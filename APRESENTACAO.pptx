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6" r:id="rId12"/>
    <p:sldId id="270" r:id="rId13"/>
    <p:sldId id="267" r:id="rId14"/>
    <p:sldId id="271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162" y="1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D8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1005840"/>
            <a:ext cx="2057400" cy="2057400"/>
          </a:xfrm>
          <a:prstGeom prst="ellipse">
            <a:avLst/>
          </a:prstGeom>
          <a:noFill/>
          <a:ln w="2794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7680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PROJETO ACADÊMICO · ESTRUTURAS DE DADOS E ALGORITMOS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8046720" cy="1828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102A43"/>
                </a:solidFill>
                <a:latin typeface="Aptos"/>
              </a:rPr>
              <a:t>Classificação textual
com grafos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7223760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 dirty="0" err="1">
                <a:solidFill>
                  <a:srgbClr val="52697D"/>
                </a:solidFill>
                <a:latin typeface="Aptos"/>
              </a:rPr>
              <a:t>Análise</a:t>
            </a:r>
            <a:r>
              <a:rPr sz="2000" b="0" i="0" dirty="0">
                <a:solidFill>
                  <a:srgbClr val="52697D"/>
                </a:solidFill>
                <a:latin typeface="Aptos"/>
              </a:rPr>
              <a:t> de </a:t>
            </a:r>
            <a:r>
              <a:rPr sz="2000" b="0" i="0" dirty="0" err="1">
                <a:solidFill>
                  <a:srgbClr val="52697D"/>
                </a:solidFill>
                <a:latin typeface="Aptos"/>
              </a:rPr>
              <a:t>sentimentos</a:t>
            </a:r>
            <a:r>
              <a:rPr sz="2000" b="0" i="0" dirty="0">
                <a:solidFill>
                  <a:srgbClr val="52697D"/>
                </a:solidFill>
                <a:latin typeface="Aptos"/>
              </a:rPr>
              <a:t> de reviews do IMDB com </a:t>
            </a:r>
            <a:r>
              <a:rPr sz="2000" b="0" i="0" dirty="0" err="1">
                <a:solidFill>
                  <a:srgbClr val="52697D"/>
                </a:solidFill>
                <a:latin typeface="Aptos"/>
              </a:rPr>
              <a:t>grafo</a:t>
            </a:r>
            <a:r>
              <a:rPr sz="2000" b="0" i="0" dirty="0">
                <a:solidFill>
                  <a:srgbClr val="52697D"/>
                </a:solidFill>
                <a:latin typeface="Aptos"/>
              </a:rPr>
              <a:t>, fila circular e BFS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1417320" cy="3840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47488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2697D"/>
                </a:solidFill>
                <a:latin typeface="Aptos"/>
              </a:rPr>
              <a:t>Python + SpaCy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4983480"/>
            <a:ext cx="1417320" cy="3840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31720" y="5047488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2697D"/>
                </a:solidFill>
                <a:latin typeface="Aptos"/>
              </a:rPr>
              <a:t>C++17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4970023"/>
            <a:ext cx="1737360" cy="3840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0" y="5044440"/>
            <a:ext cx="17373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 dirty="0" err="1">
                <a:solidFill>
                  <a:srgbClr val="52697D"/>
                </a:solidFill>
                <a:latin typeface="Aptos"/>
              </a:rPr>
              <a:t>Busca</a:t>
            </a:r>
            <a:r>
              <a:rPr sz="1000" b="1" i="0" dirty="0">
                <a:solidFill>
                  <a:srgbClr val="52697D"/>
                </a:solidFill>
                <a:latin typeface="Aptos"/>
              </a:rPr>
              <a:t> </a:t>
            </a:r>
            <a:r>
              <a:rPr sz="1000" b="1" i="0" dirty="0" err="1">
                <a:solidFill>
                  <a:srgbClr val="52697D"/>
                </a:solidFill>
                <a:latin typeface="Aptos"/>
              </a:rPr>
              <a:t>em</a:t>
            </a:r>
            <a:r>
              <a:rPr sz="1000" b="1" i="0" dirty="0">
                <a:solidFill>
                  <a:srgbClr val="52697D"/>
                </a:solidFill>
                <a:latin typeface="Aptos"/>
              </a:rPr>
              <a:t> </a:t>
            </a:r>
            <a:r>
              <a:rPr sz="1000" b="1" i="0" dirty="0" err="1">
                <a:solidFill>
                  <a:srgbClr val="52697D"/>
                </a:solidFill>
                <a:latin typeface="Aptos"/>
              </a:rPr>
              <a:t>largura</a:t>
            </a:r>
            <a:endParaRPr sz="1000" b="1" i="0" dirty="0">
              <a:solidFill>
                <a:srgbClr val="52697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Problema e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66360" cy="30632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810512"/>
            <a:ext cx="47640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7A75"/>
                </a:solidFill>
                <a:latin typeface="Aptos"/>
              </a:rP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40280"/>
            <a:ext cx="4764024" cy="155119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 dirty="0" err="1">
                <a:solidFill>
                  <a:srgbClr val="52697D"/>
                </a:solidFill>
                <a:latin typeface="Aptos"/>
              </a:rPr>
              <a:t>Classificar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uma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 review de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filme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como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positiva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ou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negativa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 a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partir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 das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relações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 entre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palavras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,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textos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 e </a:t>
            </a:r>
            <a:r>
              <a:rPr sz="2400" b="0" i="0" dirty="0" err="1">
                <a:solidFill>
                  <a:srgbClr val="52697D"/>
                </a:solidFill>
                <a:latin typeface="Aptos"/>
              </a:rPr>
              <a:t>rótulos</a:t>
            </a:r>
            <a:r>
              <a:rPr sz="2400" b="0" i="0" dirty="0">
                <a:solidFill>
                  <a:srgbClr val="52697D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66360" cy="30632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7A75"/>
                </a:solidFill>
                <a:latin typeface="Aptos"/>
              </a:rPr>
              <a:t>Objetivos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5166360" cy="156658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modelar</a:t>
            </a:r>
            <a:r>
              <a:rPr dirty="0">
                <a:solidFill>
                  <a:srgbClr val="102A43"/>
                </a:solidFill>
                <a:latin typeface="Aptos"/>
              </a:rPr>
              <a:t> o corpus </a:t>
            </a:r>
            <a:r>
              <a:rPr dirty="0" err="1">
                <a:solidFill>
                  <a:srgbClr val="102A43"/>
                </a:solidFill>
                <a:latin typeface="Aptos"/>
              </a:rPr>
              <a:t>como</a:t>
            </a:r>
            <a:r>
              <a:rPr dirty="0">
                <a:solidFill>
                  <a:srgbClr val="102A43"/>
                </a:solidFill>
                <a:latin typeface="Aptos"/>
              </a:rPr>
              <a:t> um </a:t>
            </a:r>
            <a:r>
              <a:rPr dirty="0" err="1">
                <a:solidFill>
                  <a:srgbClr val="102A43"/>
                </a:solidFill>
                <a:latin typeface="Aptos"/>
              </a:rPr>
              <a:t>grafo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heterogêneo</a:t>
            </a:r>
            <a:r>
              <a:rPr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0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implementar</a:t>
            </a:r>
            <a:r>
              <a:rPr dirty="0">
                <a:solidFill>
                  <a:srgbClr val="102A43"/>
                </a:solidFill>
                <a:latin typeface="Aptos"/>
              </a:rPr>
              <a:t> a </a:t>
            </a:r>
            <a:r>
              <a:rPr dirty="0" err="1">
                <a:solidFill>
                  <a:srgbClr val="102A43"/>
                </a:solidFill>
                <a:latin typeface="Aptos"/>
              </a:rPr>
              <a:t>estrutura</a:t>
            </a:r>
            <a:r>
              <a:rPr dirty="0">
                <a:solidFill>
                  <a:srgbClr val="102A43"/>
                </a:solidFill>
                <a:latin typeface="Aptos"/>
              </a:rPr>
              <a:t> do </a:t>
            </a:r>
            <a:r>
              <a:rPr dirty="0" err="1">
                <a:solidFill>
                  <a:srgbClr val="102A43"/>
                </a:solidFill>
                <a:latin typeface="Aptos"/>
              </a:rPr>
              <a:t>grafo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em</a:t>
            </a:r>
            <a:r>
              <a:rPr dirty="0">
                <a:solidFill>
                  <a:srgbClr val="102A43"/>
                </a:solidFill>
                <a:latin typeface="Aptos"/>
              </a:rPr>
              <a:t> C++;</a:t>
            </a:r>
          </a:p>
          <a:p>
            <a:pPr>
              <a:spcAft>
                <a:spcPts val="10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usar BFS </a:t>
            </a:r>
            <a:r>
              <a:rPr dirty="0" err="1">
                <a:solidFill>
                  <a:srgbClr val="102A43"/>
                </a:solidFill>
                <a:latin typeface="Aptos"/>
              </a:rPr>
              <a:t>como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parte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efetiva</a:t>
            </a:r>
            <a:r>
              <a:rPr dirty="0">
                <a:solidFill>
                  <a:srgbClr val="102A43"/>
                </a:solidFill>
                <a:latin typeface="Aptos"/>
              </a:rPr>
              <a:t> da </a:t>
            </a:r>
            <a:r>
              <a:rPr dirty="0" err="1">
                <a:solidFill>
                  <a:srgbClr val="102A43"/>
                </a:solidFill>
                <a:latin typeface="Aptos"/>
              </a:rPr>
              <a:t>inferência</a:t>
            </a:r>
            <a:r>
              <a:rPr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0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avaliar</a:t>
            </a:r>
            <a:r>
              <a:rPr dirty="0">
                <a:solidFill>
                  <a:srgbClr val="102A43"/>
                </a:solidFill>
                <a:latin typeface="Aptos"/>
              </a:rPr>
              <a:t> o </a:t>
            </a:r>
            <a:r>
              <a:rPr dirty="0" err="1">
                <a:solidFill>
                  <a:srgbClr val="102A43"/>
                </a:solidFill>
                <a:latin typeface="Aptos"/>
              </a:rPr>
              <a:t>classificador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em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textos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inéditos</a:t>
            </a:r>
            <a:r>
              <a:rPr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715000"/>
            <a:ext cx="10789920" cy="502920"/>
          </a:xfrm>
          <a:prstGeom prst="roundRect">
            <a:avLst/>
          </a:prstGeom>
          <a:solidFill>
            <a:srgbClr val="FAEDCF"/>
          </a:solidFill>
          <a:ln w="12700">
            <a:solidFill>
              <a:srgbClr val="D49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5788152"/>
            <a:ext cx="10460736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Aptos"/>
              </a:rPr>
              <a:t>Hipótese: reviews que compartilham palavras informativas tendem a compartilhar o mesmo sentimento.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Arquitetura do fluxo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148840" cy="12344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212848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2697D"/>
                </a:solidFill>
                <a:latin typeface="Aptos"/>
              </a:rPr>
              <a:t>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505456"/>
            <a:ext cx="20391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IMDB_dataset.csv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2072" y="2395728"/>
            <a:ext cx="457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D4932F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57400"/>
            <a:ext cx="2148840" cy="1234440"/>
          </a:xfrm>
          <a:prstGeom prst="roundRect">
            <a:avLst/>
          </a:prstGeom>
          <a:solidFill>
            <a:srgbClr val="D8EFEB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2212848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2697D"/>
                </a:solidFill>
                <a:latin typeface="Aptos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2505456"/>
            <a:ext cx="20391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SpaCy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52928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limpeza e lematização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6712" y="2395728"/>
            <a:ext cx="457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D4932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57400"/>
            <a:ext cx="2148840" cy="12344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212848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2697D"/>
                </a:solidFill>
                <a:latin typeface="Aptos"/>
              </a:rPr>
              <a:t>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3" y="2505456"/>
            <a:ext cx="20391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IMDB_processed.csv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395728"/>
            <a:ext cx="457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D4932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057400"/>
            <a:ext cx="2148840" cy="1234440"/>
          </a:xfrm>
          <a:prstGeom prst="roundRect">
            <a:avLst/>
          </a:prstGeom>
          <a:solidFill>
            <a:srgbClr val="FAEDCF"/>
          </a:solidFill>
          <a:ln w="12700">
            <a:solidFill>
              <a:srgbClr val="D49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2212848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52697D"/>
                </a:solidFill>
                <a:latin typeface="Aptos"/>
              </a:rPr>
              <a:t>C++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505456"/>
            <a:ext cx="20391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Grafo + BFS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852928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treino e classificação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06240"/>
            <a:ext cx="3337560" cy="1143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4370831"/>
            <a:ext cx="29352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7A75"/>
                </a:solidFill>
                <a:latin typeface="Aptos"/>
              </a:rPr>
              <a:t>Pré-processamento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800600"/>
            <a:ext cx="2935224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2697D"/>
                </a:solidFill>
                <a:latin typeface="Aptos"/>
              </a:rPr>
              <a:t>Python concentra as tarefas linguísticas.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206240"/>
            <a:ext cx="3337560" cy="1143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7" y="4370831"/>
            <a:ext cx="29352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7A75"/>
                </a:solidFill>
                <a:latin typeface="Aptos"/>
              </a:rPr>
              <a:t>Representação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4800600"/>
            <a:ext cx="2935224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2697D"/>
                </a:solidFill>
                <a:latin typeface="Aptos"/>
              </a:rPr>
              <a:t>Lista de adjacência armazena o grafo.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206240"/>
            <a:ext cx="3337560" cy="1143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4370831"/>
            <a:ext cx="293522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7A75"/>
                </a:solidFill>
                <a:latin typeface="Aptos"/>
              </a:rPr>
              <a:t>Inferência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800600"/>
            <a:ext cx="2935224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2697D"/>
                </a:solidFill>
                <a:latin typeface="Aptos"/>
              </a:rPr>
              <a:t>BFS encontra reviews relacionadas à consulta.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PREPARAÇÃO DOS TEXTOS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Pré-processamento com SpaCy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691640"/>
            <a:ext cx="10058400" cy="9601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856231"/>
            <a:ext cx="1371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2697D"/>
                </a:solidFill>
                <a:latin typeface="Aptos"/>
              </a:rPr>
              <a:t>TEXTO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39696"/>
            <a:ext cx="9509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102A43"/>
                </a:solidFill>
                <a:latin typeface="Aptos"/>
              </a:rPr>
              <a:t>“The movies were absolutely amazing and I loved them”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761488"/>
            <a:ext cx="914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D4932F"/>
                </a:solidFill>
                <a:latin typeface="Apto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46120"/>
            <a:ext cx="10058400" cy="960120"/>
          </a:xfrm>
          <a:prstGeom prst="roundRect">
            <a:avLst/>
          </a:prstGeom>
          <a:solidFill>
            <a:srgbClr val="D8EFEB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3410712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2697D"/>
                </a:solidFill>
                <a:latin typeface="Aptos"/>
              </a:rPr>
              <a:t>TEXTO PROCESSADO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94176"/>
            <a:ext cx="9509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0B7A75"/>
                </a:solidFill>
                <a:latin typeface="Consolas"/>
              </a:rPr>
              <a:t>movie absolutely amazing love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4736592"/>
            <a:ext cx="1508760" cy="3931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828032"/>
            <a:ext cx="1508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2697D"/>
                </a:solidFill>
                <a:latin typeface="Aptos"/>
              </a:rPr>
              <a:t>minúsculas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2" y="4736592"/>
            <a:ext cx="1508760" cy="3931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07792" y="4828032"/>
            <a:ext cx="1508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2697D"/>
                </a:solidFill>
                <a:latin typeface="Aptos"/>
              </a:rPr>
              <a:t>tokenização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6592" y="4736592"/>
            <a:ext cx="1508760" cy="3931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36592" y="4828032"/>
            <a:ext cx="1508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2697D"/>
                </a:solidFill>
                <a:latin typeface="Aptos"/>
              </a:rPr>
              <a:t>stopwords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4736592"/>
            <a:ext cx="1920240" cy="3931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4828032"/>
            <a:ext cx="1920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2697D"/>
                </a:solidFill>
                <a:latin typeface="Aptos"/>
              </a:rPr>
              <a:t>tokens alfabéticos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96528" y="4736592"/>
            <a:ext cx="1508760" cy="3931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96528" y="4828032"/>
            <a:ext cx="1508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2697D"/>
                </a:solidFill>
                <a:latin typeface="Aptos"/>
              </a:rPr>
              <a:t>lematização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23560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2697D"/>
                </a:solidFill>
                <a:latin typeface="Aptos"/>
              </a:rPr>
              <a:t>O mesmo pipeline é aplicado ao dataset e às entradas do modo interativo.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REPRESENTAÇÃO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50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 dirty="0">
                <a:solidFill>
                  <a:srgbClr val="102A43"/>
                </a:solidFill>
                <a:latin typeface="Aptos"/>
              </a:rPr>
              <a:t>Modelo do </a:t>
            </a:r>
            <a:r>
              <a:rPr sz="3100" b="1" i="0" dirty="0" err="1">
                <a:solidFill>
                  <a:srgbClr val="102A43"/>
                </a:solidFill>
                <a:latin typeface="Aptos"/>
              </a:rPr>
              <a:t>grafo</a:t>
            </a:r>
            <a:r>
              <a:rPr lang="pt-BR" sz="3100" b="1" i="0" dirty="0">
                <a:solidFill>
                  <a:srgbClr val="102A43"/>
                </a:solidFill>
                <a:latin typeface="Aptos"/>
              </a:rPr>
              <a:t> (Tripartido)</a:t>
            </a:r>
            <a:endParaRPr sz="3100" b="1" i="0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57400" y="2103120"/>
            <a:ext cx="3200400" cy="228600"/>
          </a:xfrm>
          <a:prstGeom prst="line">
            <a:avLst/>
          </a:prstGeom>
          <a:ln w="25400">
            <a:solidFill>
              <a:srgbClr val="82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57400" y="4069080"/>
            <a:ext cx="3200400" cy="91440"/>
          </a:xfrm>
          <a:prstGeom prst="line">
            <a:avLst/>
          </a:prstGeom>
          <a:ln w="25400">
            <a:solidFill>
              <a:srgbClr val="82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257800" y="2331720"/>
            <a:ext cx="3474720" cy="914400"/>
          </a:xfrm>
          <a:prstGeom prst="line">
            <a:avLst/>
          </a:prstGeom>
          <a:ln w="25400">
            <a:solidFill>
              <a:srgbClr val="82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257800" y="3246120"/>
            <a:ext cx="3474720" cy="914400"/>
          </a:xfrm>
          <a:prstGeom prst="line">
            <a:avLst/>
          </a:prstGeom>
          <a:ln w="25400">
            <a:solidFill>
              <a:srgbClr val="82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57400" y="2103120"/>
            <a:ext cx="3200400" cy="2057400"/>
          </a:xfrm>
          <a:prstGeom prst="line">
            <a:avLst/>
          </a:prstGeom>
          <a:ln w="25400">
            <a:solidFill>
              <a:srgbClr val="8297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8680" y="1755648"/>
            <a:ext cx="1965960" cy="868680"/>
          </a:xfrm>
          <a:prstGeom prst="roundRect">
            <a:avLst/>
          </a:prstGeom>
          <a:solidFill>
            <a:srgbClr val="D8EFEB"/>
          </a:solidFill>
          <a:ln w="2286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1965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amazing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9424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03320"/>
            <a:ext cx="1965960" cy="868680"/>
          </a:xfrm>
          <a:prstGeom prst="roundRect">
            <a:avLst/>
          </a:prstGeom>
          <a:solidFill>
            <a:srgbClr val="D8EFEB"/>
          </a:solidFill>
          <a:ln w="2286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822191"/>
            <a:ext cx="1965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beautiful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97096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901952"/>
            <a:ext cx="1965960" cy="868680"/>
          </a:xfrm>
          <a:prstGeom prst="roundRect">
            <a:avLst/>
          </a:prstGeom>
          <a:solidFill>
            <a:srgbClr val="FFFDF8"/>
          </a:solidFill>
          <a:ln w="22860">
            <a:solidFill>
              <a:srgbClr val="52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2020824"/>
            <a:ext cx="1965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review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95728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30752"/>
            <a:ext cx="1965960" cy="868680"/>
          </a:xfrm>
          <a:prstGeom prst="roundRect">
            <a:avLst/>
          </a:prstGeom>
          <a:solidFill>
            <a:srgbClr val="FFFDF8"/>
          </a:solidFill>
          <a:ln w="22860">
            <a:solidFill>
              <a:srgbClr val="526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3849624"/>
            <a:ext cx="19659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review 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224528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2816352"/>
            <a:ext cx="2148840" cy="868680"/>
          </a:xfrm>
          <a:prstGeom prst="roundRect">
            <a:avLst/>
          </a:prstGeom>
          <a:solidFill>
            <a:srgbClr val="FAEDCF"/>
          </a:solidFill>
          <a:ln w="22860">
            <a:solidFill>
              <a:srgbClr val="D49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2935224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POSITIVO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310128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SENTIMENT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715000"/>
            <a:ext cx="10789920" cy="502920"/>
          </a:xfrm>
          <a:prstGeom prst="roundRect">
            <a:avLst/>
          </a:prstGeom>
          <a:solidFill>
            <a:srgbClr val="FAEDCF"/>
          </a:solidFill>
          <a:ln w="12700">
            <a:solidFill>
              <a:srgbClr val="D49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5788152"/>
            <a:ext cx="10460736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02A43"/>
                </a:solidFill>
                <a:latin typeface="Aptos"/>
              </a:rPr>
              <a:t>Arestas: TEXT ↔ WORD e TEXT ↔ SENTIMENT. Não existe ligação direta WORD ↔ SENTIMENT.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ALGORITMO DE CLASSIFICAÇÃO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Onde usamos a BFS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2880360" cy="1051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78992" y="1810512"/>
            <a:ext cx="384048" cy="384048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883664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Apto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92224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Aptos"/>
              </a:rPr>
              <a:t>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57984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2697D"/>
                </a:solidFill>
                <a:latin typeface="Aptos"/>
              </a:rPr>
              <a:t>palavra da consulta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856231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D4932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00200"/>
            <a:ext cx="2880360" cy="1051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36592" y="1810512"/>
            <a:ext cx="384048" cy="384048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883664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792224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Aptos"/>
              </a:rPr>
              <a:t>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157984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2697D"/>
                </a:solidFill>
                <a:latin typeface="Aptos"/>
              </a:rPr>
              <a:t>reviews candidatas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856231"/>
            <a:ext cx="411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D4932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00200"/>
            <a:ext cx="2880360" cy="1051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94192" y="1810512"/>
            <a:ext cx="384048" cy="384048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1883664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1792224"/>
            <a:ext cx="19202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Aptos"/>
              </a:rPr>
              <a:t>SENTIMENT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157984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2697D"/>
                </a:solidFill>
                <a:latin typeface="Aptos"/>
              </a:rPr>
              <a:t>rótulo da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54680"/>
            <a:ext cx="10058400" cy="168969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02A43"/>
                </a:solidFill>
                <a:latin typeface="Aptos"/>
              </a:rPr>
              <a:t>• Uma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busca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por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palavra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distinta</a:t>
            </a:r>
            <a:r>
              <a:rPr sz="2000" dirty="0">
                <a:solidFill>
                  <a:srgbClr val="102A43"/>
                </a:solidFill>
                <a:latin typeface="Aptos"/>
              </a:rPr>
              <a:t>: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cada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termo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conhecido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inicia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bounded_bfs</a:t>
            </a:r>
            <a:r>
              <a:rPr sz="2000" dirty="0">
                <a:solidFill>
                  <a:srgbClr val="102A43"/>
                </a:solidFill>
                <a:latin typeface="Aptos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02A43"/>
                </a:solidFill>
                <a:latin typeface="Aptos"/>
              </a:rPr>
              <a:t>•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Profundidade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máxima</a:t>
            </a:r>
            <a:r>
              <a:rPr sz="2000" dirty="0">
                <a:solidFill>
                  <a:srgbClr val="102A43"/>
                </a:solidFill>
                <a:latin typeface="Aptos"/>
              </a:rPr>
              <a:t> 2: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somente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os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tipos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esperados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são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visitados</a:t>
            </a:r>
            <a:r>
              <a:rPr sz="2000" dirty="0">
                <a:solidFill>
                  <a:srgbClr val="102A43"/>
                </a:solidFill>
                <a:latin typeface="Aptos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02A43"/>
                </a:solidFill>
                <a:latin typeface="Aptos"/>
              </a:rPr>
              <a:t>• Controle de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visitados</a:t>
            </a:r>
            <a:r>
              <a:rPr sz="2000" dirty="0">
                <a:solidFill>
                  <a:srgbClr val="102A43"/>
                </a:solidFill>
                <a:latin typeface="Aptos"/>
              </a:rPr>
              <a:t>: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cada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nó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entra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na</a:t>
            </a:r>
            <a:r>
              <a:rPr sz="2000" dirty="0">
                <a:solidFill>
                  <a:srgbClr val="102A43"/>
                </a:solidFill>
                <a:latin typeface="Aptos"/>
              </a:rPr>
              <a:t> fila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uma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vez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por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busca</a:t>
            </a:r>
            <a:r>
              <a:rPr sz="2000" dirty="0">
                <a:solidFill>
                  <a:srgbClr val="102A43"/>
                </a:solidFill>
                <a:latin typeface="Aptos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02A43"/>
                </a:solidFill>
                <a:latin typeface="Aptos"/>
              </a:rPr>
              <a:t>•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Votação</a:t>
            </a:r>
            <a:r>
              <a:rPr sz="2000" dirty="0">
                <a:solidFill>
                  <a:srgbClr val="102A43"/>
                </a:solidFill>
                <a:latin typeface="Aptos"/>
              </a:rPr>
              <a:t>: as reviews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alcançadas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acumulam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evidências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por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sentimento</a:t>
            </a:r>
            <a:r>
              <a:rPr sz="2000"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42432"/>
            <a:ext cx="10332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2697D"/>
                </a:solidFill>
                <a:latin typeface="Consolas"/>
              </a:rPr>
              <a:t>Implementação: graph::bounded_bfs · Chamada: classify_review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ESTRUTURAS IMPLEMENTADAS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Grafo e fila implementados do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57800" cy="30632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7A75"/>
                </a:solidFill>
                <a:latin typeface="Aptos"/>
              </a:rPr>
              <a:t>Grafo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4617720" cy="168969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02A43"/>
                </a:solidFill>
                <a:latin typeface="Aptos"/>
              </a:rPr>
              <a:t>•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lista</a:t>
            </a:r>
            <a:r>
              <a:rPr sz="2000" dirty="0">
                <a:solidFill>
                  <a:srgbClr val="102A43"/>
                </a:solidFill>
                <a:latin typeface="Aptos"/>
              </a:rPr>
              <a:t> de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adjacência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encadeada</a:t>
            </a:r>
            <a:r>
              <a:rPr sz="2000"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02A43"/>
                </a:solidFill>
                <a:latin typeface="Aptos"/>
              </a:rPr>
              <a:t>•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catálogo</a:t>
            </a:r>
            <a:r>
              <a:rPr sz="2000" dirty="0">
                <a:solidFill>
                  <a:srgbClr val="102A43"/>
                </a:solidFill>
                <a:latin typeface="Aptos"/>
              </a:rPr>
              <a:t> de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ponteiros</a:t>
            </a:r>
            <a:r>
              <a:rPr sz="2000" dirty="0">
                <a:solidFill>
                  <a:srgbClr val="102A43"/>
                </a:solidFill>
                <a:latin typeface="Aptos"/>
              </a:rPr>
              <a:t> para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nós</a:t>
            </a:r>
            <a:r>
              <a:rPr sz="2000"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02A43"/>
                </a:solidFill>
                <a:latin typeface="Aptos"/>
              </a:rPr>
              <a:t>•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redimensionamento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dinâmico</a:t>
            </a:r>
            <a:r>
              <a:rPr sz="2000"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02A43"/>
                </a:solidFill>
                <a:latin typeface="Aptos"/>
              </a:rPr>
              <a:t>• pesos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acumulados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nas</a:t>
            </a:r>
            <a:r>
              <a:rPr sz="2000" dirty="0">
                <a:solidFill>
                  <a:srgbClr val="102A43"/>
                </a:solidFill>
                <a:latin typeface="Aptos"/>
              </a:rPr>
              <a:t>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arestas</a:t>
            </a:r>
            <a:r>
              <a:rPr sz="2000"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00200"/>
            <a:ext cx="5257800" cy="30632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810512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7A75"/>
                </a:solidFill>
                <a:latin typeface="Aptos"/>
              </a:rPr>
              <a:t>Fila circular da BFS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304288"/>
            <a:ext cx="4617720" cy="184358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vetor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dinâmico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próprio</a:t>
            </a:r>
            <a:r>
              <a:rPr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0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head e count, </a:t>
            </a:r>
            <a:r>
              <a:rPr dirty="0" err="1">
                <a:solidFill>
                  <a:srgbClr val="102A43"/>
                </a:solidFill>
                <a:latin typeface="Aptos"/>
              </a:rPr>
              <a:t>sem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deslocamentos</a:t>
            </a:r>
            <a:r>
              <a:rPr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0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enqueue e dequeue </a:t>
            </a:r>
            <a:r>
              <a:rPr dirty="0" err="1">
                <a:solidFill>
                  <a:srgbClr val="102A43"/>
                </a:solidFill>
                <a:latin typeface="Aptos"/>
              </a:rPr>
              <a:t>em</a:t>
            </a:r>
            <a:r>
              <a:rPr dirty="0">
                <a:solidFill>
                  <a:srgbClr val="102A43"/>
                </a:solidFill>
                <a:latin typeface="Aptos"/>
              </a:rPr>
              <a:t> O(1) </a:t>
            </a:r>
            <a:r>
              <a:rPr dirty="0" err="1">
                <a:solidFill>
                  <a:srgbClr val="102A43"/>
                </a:solidFill>
                <a:latin typeface="Aptos"/>
              </a:rPr>
              <a:t>amortizado</a:t>
            </a:r>
            <a:r>
              <a:rPr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0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grow dobra a </a:t>
            </a:r>
            <a:r>
              <a:rPr dirty="0" err="1">
                <a:solidFill>
                  <a:srgbClr val="102A43"/>
                </a:solidFill>
                <a:latin typeface="Aptos"/>
              </a:rPr>
              <a:t>capacidade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quando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necessário</a:t>
            </a:r>
            <a:r>
              <a:rPr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23036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4932F"/>
                </a:solidFill>
                <a:latin typeface="Aptos"/>
              </a:rPr>
              <a:t>HEAD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5001768"/>
            <a:ext cx="1965960" cy="5943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8760" y="5184648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A43"/>
                </a:solidFill>
                <a:latin typeface="Consolas"/>
              </a:rPr>
              <a:t>WORD ·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5001768"/>
            <a:ext cx="1965960" cy="5943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5184648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A43"/>
                </a:solidFill>
                <a:latin typeface="Consolas"/>
              </a:rPr>
              <a:t>TEXT ·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5001768"/>
            <a:ext cx="1965960" cy="5943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40" y="5184648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A43"/>
                </a:solidFill>
                <a:latin typeface="Consolas"/>
              </a:rPr>
              <a:t>TEXT ·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5001768"/>
            <a:ext cx="1965960" cy="5943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0" y="5184648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02A43"/>
                </a:solidFill>
                <a:latin typeface="Consolas"/>
              </a:rPr>
              <a:t>SENTIMENT ·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5230368"/>
            <a:ext cx="5943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4932F"/>
                </a:solidFill>
                <a:latin typeface="Aptos"/>
              </a:rPr>
              <a:t>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PONTUAÇÃO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Como a decisão é calculada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22860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0B7A75"/>
                </a:solidFill>
                <a:latin typeface="Aptos"/>
              </a:rPr>
              <a:t>score(review)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965960"/>
            <a:ext cx="5486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D4932F"/>
                </a:solidFill>
                <a:latin typeface="Aptos"/>
              </a:rPr>
              <a:t>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645920"/>
            <a:ext cx="6035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 dirty="0" err="1">
                <a:solidFill>
                  <a:srgbClr val="102A43"/>
                </a:solidFill>
                <a:latin typeface="Aptos"/>
              </a:rPr>
              <a:t>palavras</a:t>
            </a:r>
            <a:r>
              <a:rPr sz="1900" b="0" i="0" dirty="0">
                <a:solidFill>
                  <a:srgbClr val="102A43"/>
                </a:solidFill>
                <a:latin typeface="Aptos"/>
              </a:rPr>
              <a:t> </a:t>
            </a:r>
            <a:r>
              <a:rPr sz="1900" b="0" i="0" dirty="0" err="1">
                <a:solidFill>
                  <a:srgbClr val="102A43"/>
                </a:solidFill>
                <a:latin typeface="Aptos"/>
              </a:rPr>
              <a:t>distintas</a:t>
            </a:r>
            <a:r>
              <a:rPr sz="1900" b="0" i="0" dirty="0">
                <a:solidFill>
                  <a:srgbClr val="102A43"/>
                </a:solidFill>
                <a:latin typeface="Aptos"/>
              </a:rPr>
              <a:t> </a:t>
            </a:r>
            <a:r>
              <a:rPr sz="1900" b="0" i="0" dirty="0" err="1">
                <a:solidFill>
                  <a:srgbClr val="102A43"/>
                </a:solidFill>
                <a:latin typeface="Aptos"/>
              </a:rPr>
              <a:t>compartilhadas</a:t>
            </a:r>
            <a:endParaRPr sz="1900" b="0" i="0" dirty="0">
              <a:solidFill>
                <a:srgbClr val="102A43"/>
              </a:solidFill>
              <a:latin typeface="Apto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434840" y="2148840"/>
            <a:ext cx="5669280" cy="0"/>
          </a:xfrm>
          <a:prstGeom prst="line">
            <a:avLst/>
          </a:prstGeom>
          <a:ln w="25400">
            <a:solidFill>
              <a:srgbClr val="102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51960" y="2331720"/>
            <a:ext cx="6035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102A43"/>
                </a:solidFill>
                <a:latin typeface="Aptos"/>
              </a:rPr>
              <a:t>palavras distintas da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3429000" cy="1051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" y="3950208"/>
            <a:ext cx="384048" cy="384048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14215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837444"/>
            <a:ext cx="2514600" cy="6278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102A43"/>
                </a:solidFill>
                <a:latin typeface="Aptos"/>
              </a:rPr>
              <a:t>Somar </a:t>
            </a:r>
            <a:r>
              <a:rPr b="0" i="0" dirty="0" err="1">
                <a:solidFill>
                  <a:srgbClr val="102A43"/>
                </a:solidFill>
                <a:latin typeface="Aptos"/>
              </a:rPr>
              <a:t>os</a:t>
            </a:r>
            <a:r>
              <a:rPr b="0" i="0" dirty="0">
                <a:solidFill>
                  <a:srgbClr val="102A43"/>
                </a:solidFill>
                <a:latin typeface="Aptos"/>
              </a:rPr>
              <a:t> scores das reviews </a:t>
            </a:r>
            <a:r>
              <a:rPr b="0" i="0" dirty="0" err="1">
                <a:solidFill>
                  <a:srgbClr val="102A43"/>
                </a:solidFill>
                <a:latin typeface="Aptos"/>
              </a:rPr>
              <a:t>positivas</a:t>
            </a:r>
            <a:r>
              <a:rPr b="0" i="0"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657600"/>
            <a:ext cx="3429000" cy="1051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800600" y="3950208"/>
            <a:ext cx="384048" cy="384048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4014215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3837444"/>
            <a:ext cx="2514600" cy="6278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>
                <a:solidFill>
                  <a:srgbClr val="102A43"/>
                </a:solidFill>
                <a:latin typeface="Aptos"/>
              </a:rPr>
              <a:t>Somar </a:t>
            </a:r>
            <a:r>
              <a:rPr b="0" i="0" dirty="0" err="1">
                <a:solidFill>
                  <a:srgbClr val="102A43"/>
                </a:solidFill>
                <a:latin typeface="Aptos"/>
              </a:rPr>
              <a:t>os</a:t>
            </a:r>
            <a:r>
              <a:rPr b="0" i="0" dirty="0">
                <a:solidFill>
                  <a:srgbClr val="102A43"/>
                </a:solidFill>
                <a:latin typeface="Aptos"/>
              </a:rPr>
              <a:t> scores das reviews </a:t>
            </a:r>
            <a:r>
              <a:rPr b="0" i="0" dirty="0" err="1">
                <a:solidFill>
                  <a:srgbClr val="102A43"/>
                </a:solidFill>
                <a:latin typeface="Aptos"/>
              </a:rPr>
              <a:t>negativas</a:t>
            </a:r>
            <a:r>
              <a:rPr b="0" i="0"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657600"/>
            <a:ext cx="3429000" cy="1051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95360" y="3950208"/>
            <a:ext cx="384048" cy="384048"/>
          </a:xfrm>
          <a:prstGeom prst="round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4014215"/>
            <a:ext cx="384048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3837444"/>
            <a:ext cx="2514600" cy="6278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0" i="0" dirty="0" err="1">
                <a:solidFill>
                  <a:srgbClr val="102A43"/>
                </a:solidFill>
                <a:latin typeface="Aptos"/>
              </a:rPr>
              <a:t>Escolher</a:t>
            </a:r>
            <a:r>
              <a:rPr b="0" i="0" dirty="0">
                <a:solidFill>
                  <a:srgbClr val="102A43"/>
                </a:solidFill>
                <a:latin typeface="Aptos"/>
              </a:rPr>
              <a:t> a </a:t>
            </a:r>
            <a:r>
              <a:rPr b="0" i="0" dirty="0" err="1">
                <a:solidFill>
                  <a:srgbClr val="102A43"/>
                </a:solidFill>
                <a:latin typeface="Aptos"/>
              </a:rPr>
              <a:t>maior</a:t>
            </a:r>
            <a:r>
              <a:rPr b="0" i="0" dirty="0">
                <a:solidFill>
                  <a:srgbClr val="102A4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02A43"/>
                </a:solidFill>
                <a:latin typeface="Aptos"/>
              </a:rPr>
              <a:t>pontuação</a:t>
            </a:r>
            <a:r>
              <a:rPr b="0" i="0"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15000"/>
            <a:ext cx="10789920" cy="502920"/>
          </a:xfrm>
          <a:prstGeom prst="roundRect">
            <a:avLst/>
          </a:prstGeom>
          <a:solidFill>
            <a:srgbClr val="FAEDCF"/>
          </a:solidFill>
          <a:ln w="12700">
            <a:solidFill>
              <a:srgbClr val="D49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5856931"/>
            <a:ext cx="10460736" cy="27392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102A43"/>
                </a:solidFill>
                <a:latin typeface="Aptos"/>
              </a:rPr>
              <a:t>Em </a:t>
            </a:r>
            <a:r>
              <a:rPr sz="1300" b="0" i="0" dirty="0" err="1">
                <a:solidFill>
                  <a:srgbClr val="102A43"/>
                </a:solidFill>
                <a:latin typeface="Aptos"/>
              </a:rPr>
              <a:t>empate</a:t>
            </a:r>
            <a:r>
              <a:rPr sz="1300" b="0" i="0" dirty="0">
                <a:solidFill>
                  <a:srgbClr val="102A43"/>
                </a:solidFill>
                <a:latin typeface="Aptos"/>
              </a:rPr>
              <a:t>, </a:t>
            </a:r>
            <a:r>
              <a:rPr sz="1300" b="0" i="0" dirty="0" err="1">
                <a:solidFill>
                  <a:srgbClr val="102A43"/>
                </a:solidFill>
                <a:latin typeface="Aptos"/>
              </a:rPr>
              <a:t>vence</a:t>
            </a:r>
            <a:r>
              <a:rPr sz="1300" b="0" i="0" dirty="0">
                <a:solidFill>
                  <a:srgbClr val="102A43"/>
                </a:solidFill>
                <a:latin typeface="Aptos"/>
              </a:rPr>
              <a:t> a </a:t>
            </a:r>
            <a:r>
              <a:rPr sz="1300" b="0" i="0" dirty="0" err="1">
                <a:solidFill>
                  <a:srgbClr val="102A43"/>
                </a:solidFill>
                <a:latin typeface="Aptos"/>
              </a:rPr>
              <a:t>classe</a:t>
            </a:r>
            <a:r>
              <a:rPr sz="1300" b="0" i="0" dirty="0">
                <a:solidFill>
                  <a:srgbClr val="102A43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102A43"/>
                </a:solidFill>
                <a:latin typeface="Aptos"/>
              </a:rPr>
              <a:t>mais</a:t>
            </a:r>
            <a:r>
              <a:rPr sz="1300" b="0" i="0" dirty="0">
                <a:solidFill>
                  <a:srgbClr val="102A43"/>
                </a:solidFill>
                <a:latin typeface="Aptos"/>
              </a:rPr>
              <a:t> </a:t>
            </a:r>
            <a:r>
              <a:rPr sz="1300" b="0" i="0" dirty="0" err="1">
                <a:solidFill>
                  <a:srgbClr val="102A43"/>
                </a:solidFill>
                <a:latin typeface="Aptos"/>
              </a:rPr>
              <a:t>frequente</a:t>
            </a:r>
            <a:r>
              <a:rPr sz="1300" b="0" i="0" dirty="0">
                <a:solidFill>
                  <a:srgbClr val="102A43"/>
                </a:solidFill>
                <a:latin typeface="Aptos"/>
              </a:rPr>
              <a:t> no conjunto de </a:t>
            </a:r>
            <a:r>
              <a:rPr sz="1300" b="0" i="0" dirty="0" err="1">
                <a:solidFill>
                  <a:srgbClr val="102A43"/>
                </a:solidFill>
                <a:latin typeface="Aptos"/>
              </a:rPr>
              <a:t>treino</a:t>
            </a:r>
            <a:r>
              <a:rPr sz="1300" b="0" i="0"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AVALIAÇÃO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Metodologia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4992915" cy="1234440"/>
          </a:xfrm>
          <a:prstGeom prst="roundRect">
            <a:avLst/>
          </a:prstGeom>
          <a:solidFill>
            <a:srgbClr val="D8EFEB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5166360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pt-BR" sz="3400" b="1" dirty="0">
                <a:solidFill>
                  <a:srgbClr val="0B7A75"/>
                </a:solidFill>
                <a:latin typeface="Aptos"/>
              </a:rPr>
              <a:t>2</a:t>
            </a:r>
            <a:r>
              <a:rPr sz="3400" b="1" i="0" dirty="0">
                <a:solidFill>
                  <a:srgbClr val="0B7A75"/>
                </a:solidFill>
                <a:latin typeface="Aptos"/>
              </a:rPr>
              <a:t>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5166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2697D"/>
                </a:solidFill>
                <a:latin typeface="Aptos"/>
              </a:rPr>
              <a:t>reviews de treino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4686" y="1600200"/>
            <a:ext cx="4962434" cy="1234440"/>
          </a:xfrm>
          <a:prstGeom prst="roundRect">
            <a:avLst/>
          </a:prstGeom>
          <a:solidFill>
            <a:srgbClr val="FAEDCF"/>
          </a:solidFill>
          <a:ln w="12700">
            <a:solidFill>
              <a:srgbClr val="D493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60" y="1764792"/>
            <a:ext cx="5166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D4932F"/>
                </a:solidFill>
                <a:latin typeface="Aptos"/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359152"/>
            <a:ext cx="5166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2697D"/>
                </a:solidFill>
                <a:latin typeface="Aptos"/>
              </a:rPr>
              <a:t>reviews inéditas de teste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9875520" cy="152811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9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Fonte: dataset </a:t>
            </a:r>
            <a:r>
              <a:rPr dirty="0" err="1">
                <a:solidFill>
                  <a:srgbClr val="102A43"/>
                </a:solidFill>
                <a:latin typeface="Aptos"/>
              </a:rPr>
              <a:t>binário</a:t>
            </a:r>
            <a:r>
              <a:rPr dirty="0">
                <a:solidFill>
                  <a:srgbClr val="102A43"/>
                </a:solidFill>
                <a:latin typeface="Aptos"/>
              </a:rPr>
              <a:t> de reviews do IMDB.</a:t>
            </a:r>
          </a:p>
          <a:p>
            <a:pPr>
              <a:spcAft>
                <a:spcPts val="9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Treino</a:t>
            </a:r>
            <a:r>
              <a:rPr dirty="0">
                <a:solidFill>
                  <a:srgbClr val="102A43"/>
                </a:solidFill>
                <a:latin typeface="Aptos"/>
              </a:rPr>
              <a:t>: </a:t>
            </a:r>
            <a:r>
              <a:rPr dirty="0" err="1">
                <a:solidFill>
                  <a:srgbClr val="102A43"/>
                </a:solidFill>
                <a:latin typeface="Aptos"/>
              </a:rPr>
              <a:t>primeiras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lang="pt-BR" dirty="0">
                <a:solidFill>
                  <a:srgbClr val="102A43"/>
                </a:solidFill>
                <a:latin typeface="Aptos"/>
              </a:rPr>
              <a:t>2</a:t>
            </a:r>
            <a:r>
              <a:rPr dirty="0">
                <a:solidFill>
                  <a:srgbClr val="102A43"/>
                </a:solidFill>
                <a:latin typeface="Aptos"/>
              </a:rPr>
              <a:t>.000 </a:t>
            </a:r>
            <a:r>
              <a:rPr dirty="0" err="1">
                <a:solidFill>
                  <a:srgbClr val="102A43"/>
                </a:solidFill>
                <a:latin typeface="Aptos"/>
              </a:rPr>
              <a:t>linhas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processadas</a:t>
            </a:r>
            <a:r>
              <a:rPr dirty="0">
                <a:solidFill>
                  <a:srgbClr val="102A43"/>
                </a:solidFill>
                <a:latin typeface="Aptos"/>
              </a:rPr>
              <a:t>.</a:t>
            </a:r>
          </a:p>
          <a:p>
            <a:pPr>
              <a:spcAft>
                <a:spcPts val="9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Teste: 1.000 </a:t>
            </a:r>
            <a:r>
              <a:rPr dirty="0" err="1">
                <a:solidFill>
                  <a:srgbClr val="102A43"/>
                </a:solidFill>
                <a:latin typeface="Aptos"/>
              </a:rPr>
              <a:t>linhas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seguintes</a:t>
            </a:r>
            <a:r>
              <a:rPr dirty="0">
                <a:solidFill>
                  <a:srgbClr val="102A43"/>
                </a:solidFill>
                <a:latin typeface="Aptos"/>
              </a:rPr>
              <a:t>, </a:t>
            </a:r>
            <a:r>
              <a:rPr dirty="0" err="1">
                <a:solidFill>
                  <a:srgbClr val="102A43"/>
                </a:solidFill>
                <a:latin typeface="Aptos"/>
              </a:rPr>
              <a:t>sem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sobreposição</a:t>
            </a:r>
            <a:r>
              <a:rPr dirty="0">
                <a:solidFill>
                  <a:srgbClr val="102A43"/>
                </a:solidFill>
                <a:latin typeface="Aptos"/>
              </a:rPr>
              <a:t>.</a:t>
            </a:r>
          </a:p>
          <a:p>
            <a:pPr>
              <a:spcAft>
                <a:spcPts val="9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Métrica</a:t>
            </a:r>
            <a:r>
              <a:rPr dirty="0">
                <a:solidFill>
                  <a:srgbClr val="102A43"/>
                </a:solidFill>
                <a:latin typeface="Aptos"/>
              </a:rPr>
              <a:t> principal: </a:t>
            </a:r>
            <a:r>
              <a:rPr dirty="0" err="1">
                <a:solidFill>
                  <a:srgbClr val="102A43"/>
                </a:solidFill>
                <a:latin typeface="Aptos"/>
              </a:rPr>
              <a:t>acurácia</a:t>
            </a:r>
            <a:r>
              <a:rPr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2697D"/>
                </a:solidFill>
                <a:latin typeface="Aptos"/>
              </a:rPr>
              <a:t>Protocolo preliminar: ainda sem embaralhamento, validação cruzada ou comparação com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RESULTADO OBSERVADO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Acurácia no conjunto de teste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576072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200" b="1" i="0">
                <a:solidFill>
                  <a:srgbClr val="0B7A75"/>
                </a:solidFill>
                <a:latin typeface="Aptos"/>
              </a:rPr>
              <a:t>77,5%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154680"/>
            <a:ext cx="7671816" cy="56692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14816" y="3154680"/>
            <a:ext cx="2231136" cy="566928"/>
          </a:xfrm>
          <a:prstGeom prst="rect">
            <a:avLst/>
          </a:prstGeom>
          <a:solidFill>
            <a:srgbClr val="B84B4B"/>
          </a:solidFill>
          <a:ln w="12700">
            <a:solidFill>
              <a:srgbClr val="B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319272"/>
            <a:ext cx="767181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DF8"/>
                </a:solidFill>
                <a:latin typeface="Aptos"/>
              </a:rPr>
              <a:t>775 acertos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14816" y="3319272"/>
            <a:ext cx="223113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DF8"/>
                </a:solidFill>
                <a:latin typeface="Aptos"/>
              </a:rPr>
              <a:t>225 erros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434840"/>
            <a:ext cx="2560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02A43"/>
                </a:solidFill>
                <a:latin typeface="Aptos"/>
              </a:rPr>
              <a:t>1.000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910328"/>
            <a:ext cx="2560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2697D"/>
                </a:solidFill>
                <a:latin typeface="Aptos"/>
              </a:rPr>
              <a:t>textos avaliados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434840"/>
            <a:ext cx="2560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02A43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910328"/>
            <a:ext cx="2560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2697D"/>
                </a:solidFill>
                <a:latin typeface="Aptos"/>
              </a:rPr>
              <a:t>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434840"/>
            <a:ext cx="25603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02A43"/>
                </a:solidFill>
                <a:latin typeface="Aptos"/>
              </a:rPr>
              <a:t>77,5%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4910328"/>
            <a:ext cx="2560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2697D"/>
                </a:solidFill>
                <a:latin typeface="Aptos"/>
              </a:rPr>
              <a:t>acurácia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Classificação pelo teclado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600200"/>
            <a:ext cx="10241280" cy="3429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0120" y="1600200"/>
            <a:ext cx="10241280" cy="438912"/>
          </a:xfrm>
          <a:prstGeom prst="rect">
            <a:avLst/>
          </a:prstGeom>
          <a:solidFill>
            <a:srgbClr val="1C3F58"/>
          </a:solidFill>
          <a:ln w="12700">
            <a:solidFill>
              <a:srgbClr val="1C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1746504"/>
            <a:ext cx="100584" cy="100584"/>
          </a:xfrm>
          <a:prstGeom prst="ellipse">
            <a:avLst/>
          </a:prstGeom>
          <a:solidFill>
            <a:srgbClr val="B8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53312" y="1746504"/>
            <a:ext cx="100584" cy="100584"/>
          </a:xfrm>
          <a:prstGeom prst="ellipse">
            <a:avLst/>
          </a:prstGeom>
          <a:solidFill>
            <a:srgbClr val="D49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63624" y="1746504"/>
            <a:ext cx="100584" cy="100584"/>
          </a:xfrm>
          <a:prstGeom prst="ellipse">
            <a:avLst/>
          </a:prstGeom>
          <a:solidFill>
            <a:srgbClr val="61B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1719072"/>
            <a:ext cx="109728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FFFDF8"/>
                </a:solidFill>
                <a:latin typeface="Aptos"/>
              </a:rPr>
              <a:t>app.exe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31720"/>
            <a:ext cx="9418320" cy="2103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AF2F5"/>
                </a:solidFill>
                <a:latin typeface="Consolas"/>
              </a:rPr>
              <a:t>&gt; I loved this amazing and beautiful movie
Classificacao: positive
&gt; This was boring and terribly acted
Classificacao: 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2697D"/>
                </a:solidFill>
                <a:latin typeface="Aptos"/>
              </a:rPr>
              <a:t>A entrada é convertida para minúsculas, processada pelo mesmo SpaCy do dataset e enviada à BFS.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 dirty="0" err="1">
                <a:solidFill>
                  <a:srgbClr val="102A43"/>
                </a:solidFill>
                <a:latin typeface="Aptos"/>
              </a:rPr>
              <a:t>Análise</a:t>
            </a:r>
            <a:r>
              <a:rPr sz="3100" b="1" i="0" dirty="0">
                <a:solidFill>
                  <a:srgbClr val="102A43"/>
                </a:solidFill>
                <a:latin typeface="Aptos"/>
              </a:rPr>
              <a:t> dos </a:t>
            </a:r>
            <a:r>
              <a:rPr sz="3100" b="1" i="0" dirty="0" err="1">
                <a:solidFill>
                  <a:srgbClr val="102A43"/>
                </a:solidFill>
                <a:latin typeface="Aptos"/>
              </a:rPr>
              <a:t>resultados</a:t>
            </a:r>
            <a:endParaRPr sz="3100" b="1" i="0" dirty="0">
              <a:solidFill>
                <a:srgbClr val="102A4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57800" cy="4160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7A75"/>
                </a:solidFill>
                <a:latin typeface="Aptos"/>
              </a:rPr>
              <a:t>Interpretação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617720" cy="275152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77,5% indica </a:t>
            </a:r>
            <a:r>
              <a:rPr dirty="0" err="1">
                <a:solidFill>
                  <a:srgbClr val="102A43"/>
                </a:solidFill>
                <a:latin typeface="Aptos"/>
              </a:rPr>
              <a:t>sinal</a:t>
            </a:r>
            <a:r>
              <a:rPr dirty="0">
                <a:solidFill>
                  <a:srgbClr val="102A43"/>
                </a:solidFill>
                <a:latin typeface="Aptos"/>
              </a:rPr>
              <a:t> de </a:t>
            </a:r>
            <a:r>
              <a:rPr dirty="0" err="1">
                <a:solidFill>
                  <a:srgbClr val="102A43"/>
                </a:solidFill>
                <a:latin typeface="Aptos"/>
              </a:rPr>
              <a:t>sentimento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na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vizinhança</a:t>
            </a:r>
            <a:r>
              <a:rPr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os</a:t>
            </a:r>
            <a:r>
              <a:rPr lang="pt-BR"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exemplos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foram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classificados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corretamente</a:t>
            </a:r>
            <a:r>
              <a:rPr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a </a:t>
            </a:r>
            <a:r>
              <a:rPr dirty="0" err="1">
                <a:solidFill>
                  <a:srgbClr val="102A43"/>
                </a:solidFill>
                <a:latin typeface="Aptos"/>
              </a:rPr>
              <a:t>normalização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reduz</a:t>
            </a:r>
            <a:r>
              <a:rPr dirty="0">
                <a:solidFill>
                  <a:srgbClr val="102A43"/>
                </a:solidFill>
                <a:latin typeface="Aptos"/>
              </a:rPr>
              <a:t> o </a:t>
            </a:r>
            <a:r>
              <a:rPr dirty="0" err="1">
                <a:solidFill>
                  <a:srgbClr val="102A43"/>
                </a:solidFill>
                <a:latin typeface="Aptos"/>
              </a:rPr>
              <a:t>domínio</a:t>
            </a:r>
            <a:r>
              <a:rPr dirty="0">
                <a:solidFill>
                  <a:srgbClr val="102A43"/>
                </a:solidFill>
                <a:latin typeface="Aptos"/>
              </a:rPr>
              <a:t> de reviews longas;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o </a:t>
            </a:r>
            <a:r>
              <a:rPr dirty="0" err="1">
                <a:solidFill>
                  <a:srgbClr val="102A43"/>
                </a:solidFill>
                <a:latin typeface="Aptos"/>
              </a:rPr>
              <a:t>resultado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confirma</a:t>
            </a:r>
            <a:r>
              <a:rPr dirty="0">
                <a:solidFill>
                  <a:srgbClr val="102A43"/>
                </a:solidFill>
                <a:latin typeface="Aptos"/>
              </a:rPr>
              <a:t> a </a:t>
            </a:r>
            <a:r>
              <a:rPr dirty="0" err="1">
                <a:solidFill>
                  <a:srgbClr val="102A43"/>
                </a:solidFill>
                <a:latin typeface="Aptos"/>
              </a:rPr>
              <a:t>viabilidade</a:t>
            </a:r>
            <a:r>
              <a:rPr dirty="0">
                <a:solidFill>
                  <a:srgbClr val="102A43"/>
                </a:solidFill>
                <a:latin typeface="Aptos"/>
              </a:rPr>
              <a:t> do </a:t>
            </a:r>
            <a:r>
              <a:rPr dirty="0" err="1">
                <a:solidFill>
                  <a:srgbClr val="102A43"/>
                </a:solidFill>
                <a:latin typeface="Aptos"/>
              </a:rPr>
              <a:t>protótipo</a:t>
            </a:r>
            <a:r>
              <a:rPr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00200"/>
            <a:ext cx="5257800" cy="4160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847088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7A75"/>
                </a:solidFill>
                <a:latin typeface="Aptos"/>
              </a:rPr>
              <a:t>Limitações da evidência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395728"/>
            <a:ext cx="4617720" cy="219752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uma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única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divisão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sequencial</a:t>
            </a:r>
            <a:r>
              <a:rPr dirty="0">
                <a:solidFill>
                  <a:srgbClr val="102A43"/>
                </a:solidFill>
                <a:latin typeface="Aptos"/>
              </a:rPr>
              <a:t> de </a:t>
            </a:r>
            <a:r>
              <a:rPr dirty="0" err="1">
                <a:solidFill>
                  <a:srgbClr val="102A43"/>
                </a:solidFill>
                <a:latin typeface="Aptos"/>
              </a:rPr>
              <a:t>treino</a:t>
            </a:r>
            <a:r>
              <a:rPr dirty="0">
                <a:solidFill>
                  <a:srgbClr val="102A43"/>
                </a:solidFill>
                <a:latin typeface="Aptos"/>
              </a:rPr>
              <a:t> e teste;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ausência</a:t>
            </a:r>
            <a:r>
              <a:rPr dirty="0">
                <a:solidFill>
                  <a:srgbClr val="102A43"/>
                </a:solidFill>
                <a:latin typeface="Aptos"/>
              </a:rPr>
              <a:t> de baseline e </a:t>
            </a:r>
            <a:r>
              <a:rPr dirty="0" err="1">
                <a:solidFill>
                  <a:srgbClr val="102A43"/>
                </a:solidFill>
                <a:latin typeface="Aptos"/>
              </a:rPr>
              <a:t>validação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cruzada</a:t>
            </a:r>
            <a:r>
              <a:rPr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votação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sensível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ao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vocabulário</a:t>
            </a:r>
            <a:r>
              <a:rPr dirty="0">
                <a:solidFill>
                  <a:srgbClr val="102A43"/>
                </a:solidFill>
                <a:latin typeface="Aptos"/>
              </a:rPr>
              <a:t> de </a:t>
            </a:r>
            <a:r>
              <a:rPr dirty="0" err="1">
                <a:solidFill>
                  <a:srgbClr val="102A43"/>
                </a:solidFill>
                <a:latin typeface="Aptos"/>
              </a:rPr>
              <a:t>treino</a:t>
            </a:r>
            <a:r>
              <a:rPr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2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resultado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não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generalizável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ao</a:t>
            </a:r>
            <a:r>
              <a:rPr dirty="0">
                <a:solidFill>
                  <a:srgbClr val="102A43"/>
                </a:solidFill>
                <a:latin typeface="Aptos"/>
              </a:rPr>
              <a:t> dataset </a:t>
            </a:r>
            <a:r>
              <a:rPr dirty="0" err="1">
                <a:solidFill>
                  <a:srgbClr val="102A43"/>
                </a:solidFill>
                <a:latin typeface="Aptos"/>
              </a:rPr>
              <a:t>completo</a:t>
            </a:r>
            <a:r>
              <a:rPr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Limitações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57800" cy="4160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7A75"/>
                </a:solidFill>
                <a:latin typeface="Aptos"/>
              </a:rPr>
              <a:t>Limitações atuais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617720" cy="2377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02A43"/>
                </a:solidFill>
                <a:latin typeface="Aptos"/>
              </a:rPr>
              <a:t>• amostra pequena frente ao dataset completo;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02A43"/>
                </a:solidFill>
                <a:latin typeface="Aptos"/>
              </a:rPr>
              <a:t>• ausência de baseline e validação cruzada;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02A43"/>
                </a:solidFill>
                <a:latin typeface="Aptos"/>
              </a:rPr>
              <a:t>• SpaCy reiniciado a cada entrada interativa;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02A43"/>
                </a:solidFill>
                <a:latin typeface="Aptos"/>
              </a:rPr>
              <a:t>• sem testes unitários automatizados.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00200"/>
            <a:ext cx="5257800" cy="41605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847088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7A75"/>
                </a:solidFill>
                <a:latin typeface="Aptos"/>
              </a:rPr>
              <a:t>Evoluções propostas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395728"/>
            <a:ext cx="4617720" cy="2377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02A43"/>
                </a:solidFill>
                <a:latin typeface="Aptos"/>
              </a:rPr>
              <a:t>• avaliar diferentes tamanhos e divisões;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02A43"/>
                </a:solidFill>
                <a:latin typeface="Aptos"/>
              </a:rPr>
              <a:t>• manter o processo SpaCy persistente;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02A43"/>
                </a:solidFill>
                <a:latin typeface="Aptos"/>
              </a:rPr>
              <a:t>• comparar com votação simples e Naive Bayes;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02A43"/>
                </a:solidFill>
                <a:latin typeface="Aptos"/>
              </a:rPr>
              <a:t>• medir tempo e memória por etapa.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B7A75"/>
                </a:solidFill>
                <a:latin typeface="Aptos"/>
              </a:rPr>
              <a:t>12 · TRANSPARÊNCIA METODOLÓGICA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Como a LLM foi utilizada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57800" cy="4507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7A75"/>
                </a:solidFill>
                <a:latin typeface="Aptos"/>
              </a:rPr>
              <a:t>Apoio ao desenvolvimento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617720" cy="1446037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100"/>
              </a:spcAft>
            </a:pPr>
            <a:r>
              <a:rPr sz="2000" dirty="0">
                <a:solidFill>
                  <a:srgbClr val="102A43"/>
                </a:solidFill>
                <a:latin typeface="Aptos"/>
              </a:rPr>
              <a:t>•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sugestões</a:t>
            </a:r>
            <a:r>
              <a:rPr sz="2000" dirty="0">
                <a:solidFill>
                  <a:srgbClr val="102A43"/>
                </a:solidFill>
                <a:latin typeface="Aptos"/>
              </a:rPr>
              <a:t> de testes,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documentação</a:t>
            </a:r>
            <a:r>
              <a:rPr sz="2000" dirty="0">
                <a:solidFill>
                  <a:srgbClr val="102A43"/>
                </a:solidFill>
                <a:latin typeface="Aptos"/>
              </a:rPr>
              <a:t> e slides;</a:t>
            </a:r>
          </a:p>
          <a:p>
            <a:pPr>
              <a:spcAft>
                <a:spcPts val="1100"/>
              </a:spcAft>
            </a:pPr>
            <a:r>
              <a:rPr sz="2000" dirty="0">
                <a:solidFill>
                  <a:srgbClr val="102A43"/>
                </a:solidFill>
                <a:latin typeface="Aptos"/>
              </a:rPr>
              <a:t>•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refatoração</a:t>
            </a:r>
            <a:r>
              <a:rPr sz="2000" dirty="0">
                <a:solidFill>
                  <a:srgbClr val="102A43"/>
                </a:solidFill>
                <a:latin typeface="Aptos"/>
              </a:rPr>
              <a:t> e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verificação</a:t>
            </a:r>
            <a:r>
              <a:rPr sz="2000" dirty="0">
                <a:solidFill>
                  <a:srgbClr val="102A43"/>
                </a:solidFill>
                <a:latin typeface="Aptos"/>
              </a:rPr>
              <a:t> de </a:t>
            </a:r>
            <a:r>
              <a:rPr sz="2000" dirty="0" err="1">
                <a:solidFill>
                  <a:srgbClr val="102A43"/>
                </a:solidFill>
                <a:latin typeface="Aptos"/>
              </a:rPr>
              <a:t>consistência</a:t>
            </a:r>
            <a:r>
              <a:rPr sz="2000"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00200"/>
            <a:ext cx="5257800" cy="450799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847088"/>
            <a:ext cx="4754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B7A75"/>
                </a:solidFill>
                <a:latin typeface="Aptos"/>
              </a:rPr>
              <a:t>Controle e responsabilidade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395728"/>
            <a:ext cx="4617720" cy="215905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1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decisões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técnicas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revisadas</a:t>
            </a:r>
            <a:r>
              <a:rPr dirty="0">
                <a:solidFill>
                  <a:srgbClr val="102A43"/>
                </a:solidFill>
                <a:latin typeface="Aptos"/>
              </a:rPr>
              <a:t> pela equipe;</a:t>
            </a:r>
          </a:p>
          <a:p>
            <a:pPr>
              <a:spcAft>
                <a:spcPts val="11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código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compilado</a:t>
            </a:r>
            <a:r>
              <a:rPr dirty="0">
                <a:solidFill>
                  <a:srgbClr val="102A43"/>
                </a:solidFill>
                <a:latin typeface="Aptos"/>
              </a:rPr>
              <a:t> e </a:t>
            </a:r>
            <a:r>
              <a:rPr dirty="0" err="1">
                <a:solidFill>
                  <a:srgbClr val="102A43"/>
                </a:solidFill>
                <a:latin typeface="Aptos"/>
              </a:rPr>
              <a:t>executado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localmente</a:t>
            </a:r>
            <a:r>
              <a:rPr dirty="0">
                <a:solidFill>
                  <a:srgbClr val="102A43"/>
                </a:solidFill>
                <a:latin typeface="Aptos"/>
              </a:rPr>
              <a:t>;</a:t>
            </a:r>
          </a:p>
          <a:p>
            <a:pPr>
              <a:spcAft>
                <a:spcPts val="11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</a:t>
            </a:r>
            <a:r>
              <a:rPr dirty="0" err="1">
                <a:solidFill>
                  <a:srgbClr val="102A43"/>
                </a:solidFill>
                <a:latin typeface="Aptos"/>
              </a:rPr>
              <a:t>acurácia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medida</a:t>
            </a:r>
            <a:r>
              <a:rPr dirty="0">
                <a:solidFill>
                  <a:srgbClr val="102A43"/>
                </a:solidFill>
                <a:latin typeface="Aptos"/>
              </a:rPr>
              <a:t> no dataset, </a:t>
            </a:r>
            <a:r>
              <a:rPr dirty="0" err="1">
                <a:solidFill>
                  <a:srgbClr val="102A43"/>
                </a:solidFill>
                <a:latin typeface="Aptos"/>
              </a:rPr>
              <a:t>não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estimada</a:t>
            </a:r>
            <a:r>
              <a:rPr dirty="0">
                <a:solidFill>
                  <a:srgbClr val="102A43"/>
                </a:solidFill>
                <a:latin typeface="Aptos"/>
              </a:rPr>
              <a:t> pela LLM;</a:t>
            </a:r>
          </a:p>
          <a:p>
            <a:pPr>
              <a:spcAft>
                <a:spcPts val="1100"/>
              </a:spcAft>
            </a:pPr>
            <a:r>
              <a:rPr dirty="0">
                <a:solidFill>
                  <a:srgbClr val="102A43"/>
                </a:solidFill>
                <a:latin typeface="Aptos"/>
              </a:rPr>
              <a:t>• a LLM </a:t>
            </a:r>
            <a:r>
              <a:rPr dirty="0" err="1">
                <a:solidFill>
                  <a:srgbClr val="102A43"/>
                </a:solidFill>
                <a:latin typeface="Aptos"/>
              </a:rPr>
              <a:t>não</a:t>
            </a:r>
            <a:r>
              <a:rPr dirty="0">
                <a:solidFill>
                  <a:srgbClr val="102A43"/>
                </a:solidFill>
                <a:latin typeface="Aptos"/>
              </a:rPr>
              <a:t> atua </a:t>
            </a:r>
            <a:r>
              <a:rPr dirty="0" err="1">
                <a:solidFill>
                  <a:srgbClr val="102A43"/>
                </a:solidFill>
                <a:latin typeface="Aptos"/>
              </a:rPr>
              <a:t>na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classificação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em</a:t>
            </a:r>
            <a:r>
              <a:rPr dirty="0">
                <a:solidFill>
                  <a:srgbClr val="102A43"/>
                </a:solidFill>
                <a:latin typeface="Aptos"/>
              </a:rPr>
              <a:t> </a:t>
            </a:r>
            <a:r>
              <a:rPr dirty="0" err="1">
                <a:solidFill>
                  <a:srgbClr val="102A43"/>
                </a:solidFill>
                <a:latin typeface="Aptos"/>
              </a:rPr>
              <a:t>execução</a:t>
            </a:r>
            <a:r>
              <a:rPr dirty="0">
                <a:solidFill>
                  <a:srgbClr val="102A43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65760"/>
            <a:ext cx="1069848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0B7A75"/>
                </a:solidFill>
                <a:latin typeface="Aptos"/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02A43"/>
                </a:solidFill>
                <a:latin typeface="Aptos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52697D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60704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Aptos"/>
              </a:rPr>
              <a:t>O projeto conecta uma representação explícita em grafo a um algoritmo clássico, usando a BFS como mecanismo de recuperação de evidências para classificação.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154680"/>
            <a:ext cx="3429000" cy="1325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3319272"/>
            <a:ext cx="30266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7A75"/>
                </a:solidFill>
                <a:latin typeface="Aptos"/>
              </a:rPr>
              <a:t>Interpretável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749040"/>
            <a:ext cx="3026664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2697D"/>
                </a:solidFill>
                <a:latin typeface="Aptos"/>
              </a:rPr>
              <a:t>O caminho palavra → review → sentimento é observável.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154680"/>
            <a:ext cx="3429000" cy="1325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3319272"/>
            <a:ext cx="30266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7A75"/>
                </a:solidFill>
                <a:latin typeface="Aptos"/>
              </a:rPr>
              <a:t>Autoral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749040"/>
            <a:ext cx="3026664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2697D"/>
                </a:solidFill>
                <a:latin typeface="Aptos"/>
              </a:rPr>
              <a:t>Grafo, fila e BFS foram implementados em C++.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154680"/>
            <a:ext cx="3429000" cy="13258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A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3319272"/>
            <a:ext cx="302666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B7A75"/>
                </a:solidFill>
                <a:latin typeface="Aptos"/>
              </a:rPr>
              <a:t>Funcional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3749040"/>
            <a:ext cx="3026664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2697D"/>
                </a:solidFill>
                <a:latin typeface="Aptos"/>
              </a:rPr>
              <a:t>O protótipo atingiu 81,1% no teste preliminar.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532120"/>
            <a:ext cx="10652760" cy="0"/>
          </a:xfrm>
          <a:prstGeom prst="line">
            <a:avLst/>
          </a:prstGeom>
          <a:ln w="12700">
            <a:solidFill>
              <a:srgbClr val="CAD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687568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102A43"/>
                </a:solidFill>
                <a:latin typeface="Aptos"/>
              </a:rPr>
              <a:t>REFERÊNCIAS ESSENCIAIS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5650992"/>
            <a:ext cx="8686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2697D"/>
                </a:solidFill>
                <a:latin typeface="Aptos"/>
              </a:rPr>
              <a:t>Cormen et al., Introduction to Algorithms · Honnibal et al., spaCy · Maas et al. (2011), IMDB Large Movie Review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922</Words>
  <Application>Microsoft Office PowerPoint</Application>
  <PresentationFormat>Widescreen</PresentationFormat>
  <Paragraphs>198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Classificação textual com grafos</dc:title>
  <dc:subject>Grafo, BFS e fila circular aplicados à análise de sentimentos</dc:subject>
  <dc:creator/>
  <cp:keywords>grafos, BFS, classificação textual, IMDB, SpaCy</cp:keywords>
  <dc:description>Gerado a partir da apresentação HTML do projeto.</dc:description>
  <cp:lastModifiedBy>Hugo Freitas Silva</cp:lastModifiedBy>
  <cp:revision>2</cp:revision>
  <dcterms:created xsi:type="dcterms:W3CDTF">2013-01-27T09:14:16Z</dcterms:created>
  <dcterms:modified xsi:type="dcterms:W3CDTF">2026-06-23T02:55:50Z</dcterms:modified>
  <cp:category/>
</cp:coreProperties>
</file>